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gCTvUeMAKZDl6oGmhpCuiEgLDn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2026D1-72C1-4F5F-B153-426513F6540D}">
  <a:tblStyle styleId="{612026D1-72C1-4F5F-B153-426513F6540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1E6EA"/>
          </a:solidFill>
        </a:fill>
      </a:tcStyle>
    </a:wholeTbl>
    <a:band1H>
      <a:tcTxStyle b="off" i="off"/>
      <a:tcStyle>
        <a:fill>
          <a:solidFill>
            <a:srgbClr val="E2CAD3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2CAD3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  <a:tblStyle styleId="{058B1F3F-0E4E-4FB9-892F-2C04FCC51893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EEF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EEFE7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FB68DA05-4A27-4A76-8241-F4010A363FA5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BE6E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BE6ED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:notes"/>
          <p:cNvSpPr/>
          <p:nvPr>
            <p:ph idx="2" type="sldImg"/>
          </p:nvPr>
        </p:nvSpPr>
        <p:spPr>
          <a:xfrm>
            <a:off x="685800" y="6858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7:notes"/>
          <p:cNvSpPr txBox="1"/>
          <p:nvPr>
            <p:ph idx="1" type="body"/>
          </p:nvPr>
        </p:nvSpPr>
        <p:spPr>
          <a:xfrm>
            <a:off x="685800" y="39433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 showMasterSp="0">
  <p:cSld name="Big Statem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/>
          <p:nvPr/>
        </p:nvSpPr>
        <p:spPr>
          <a:xfrm>
            <a:off x="1588" y="-303212"/>
            <a:ext cx="8369300" cy="2132013"/>
          </a:xfrm>
          <a:custGeom>
            <a:rect b="b" l="l" r="r" t="t"/>
            <a:pathLst>
              <a:path extrusionOk="0" h="1343" w="5272">
                <a:moveTo>
                  <a:pt x="3761" y="6"/>
                </a:moveTo>
                <a:lnTo>
                  <a:pt x="3970" y="946"/>
                </a:lnTo>
                <a:lnTo>
                  <a:pt x="3972" y="950"/>
                </a:lnTo>
                <a:lnTo>
                  <a:pt x="3975" y="947"/>
                </a:lnTo>
                <a:lnTo>
                  <a:pt x="4508" y="569"/>
                </a:lnTo>
                <a:lnTo>
                  <a:pt x="5265" y="1340"/>
                </a:lnTo>
                <a:lnTo>
                  <a:pt x="4348" y="1340"/>
                </a:lnTo>
                <a:lnTo>
                  <a:pt x="4342" y="1340"/>
                </a:lnTo>
                <a:lnTo>
                  <a:pt x="3917" y="1340"/>
                </a:lnTo>
                <a:lnTo>
                  <a:pt x="3345" y="1340"/>
                </a:lnTo>
                <a:lnTo>
                  <a:pt x="2276" y="1340"/>
                </a:lnTo>
                <a:lnTo>
                  <a:pt x="2150" y="1340"/>
                </a:lnTo>
                <a:lnTo>
                  <a:pt x="1008" y="1340"/>
                </a:lnTo>
                <a:lnTo>
                  <a:pt x="1008" y="1340"/>
                </a:lnTo>
                <a:lnTo>
                  <a:pt x="996" y="1340"/>
                </a:lnTo>
                <a:lnTo>
                  <a:pt x="7" y="1340"/>
                </a:lnTo>
                <a:lnTo>
                  <a:pt x="974" y="501"/>
                </a:lnTo>
                <a:lnTo>
                  <a:pt x="1359" y="1105"/>
                </a:lnTo>
                <a:lnTo>
                  <a:pt x="1360" y="1107"/>
                </a:lnTo>
                <a:lnTo>
                  <a:pt x="1363" y="1105"/>
                </a:lnTo>
                <a:lnTo>
                  <a:pt x="2026" y="653"/>
                </a:lnTo>
                <a:lnTo>
                  <a:pt x="2270" y="874"/>
                </a:lnTo>
                <a:lnTo>
                  <a:pt x="2272" y="875"/>
                </a:lnTo>
                <a:lnTo>
                  <a:pt x="2273" y="874"/>
                </a:lnTo>
                <a:lnTo>
                  <a:pt x="2794" y="480"/>
                </a:lnTo>
                <a:lnTo>
                  <a:pt x="3071" y="638"/>
                </a:lnTo>
                <a:lnTo>
                  <a:pt x="3073" y="640"/>
                </a:lnTo>
                <a:lnTo>
                  <a:pt x="3074" y="638"/>
                </a:lnTo>
                <a:lnTo>
                  <a:pt x="3761" y="6"/>
                </a:lnTo>
                <a:moveTo>
                  <a:pt x="3762" y="0"/>
                </a:moveTo>
                <a:lnTo>
                  <a:pt x="3072" y="636"/>
                </a:lnTo>
                <a:lnTo>
                  <a:pt x="2794" y="477"/>
                </a:lnTo>
                <a:lnTo>
                  <a:pt x="2272" y="872"/>
                </a:lnTo>
                <a:lnTo>
                  <a:pt x="2026" y="650"/>
                </a:lnTo>
                <a:lnTo>
                  <a:pt x="1362" y="1103"/>
                </a:lnTo>
                <a:lnTo>
                  <a:pt x="974" y="497"/>
                </a:lnTo>
                <a:lnTo>
                  <a:pt x="0" y="1343"/>
                </a:lnTo>
                <a:lnTo>
                  <a:pt x="996" y="1343"/>
                </a:lnTo>
                <a:lnTo>
                  <a:pt x="996" y="1343"/>
                </a:lnTo>
                <a:lnTo>
                  <a:pt x="2150" y="1343"/>
                </a:lnTo>
                <a:lnTo>
                  <a:pt x="2150" y="1343"/>
                </a:lnTo>
                <a:lnTo>
                  <a:pt x="2276" y="1343"/>
                </a:lnTo>
                <a:lnTo>
                  <a:pt x="3345" y="1343"/>
                </a:lnTo>
                <a:lnTo>
                  <a:pt x="3917" y="1343"/>
                </a:lnTo>
                <a:lnTo>
                  <a:pt x="4342" y="1343"/>
                </a:lnTo>
                <a:lnTo>
                  <a:pt x="4348" y="1343"/>
                </a:lnTo>
                <a:lnTo>
                  <a:pt x="5272" y="1343"/>
                </a:lnTo>
                <a:lnTo>
                  <a:pt x="4508" y="566"/>
                </a:lnTo>
                <a:lnTo>
                  <a:pt x="3973" y="945"/>
                </a:lnTo>
                <a:lnTo>
                  <a:pt x="3762" y="0"/>
                </a:lnTo>
                <a:lnTo>
                  <a:pt x="3762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10848521" y="75561"/>
            <a:ext cx="13386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SPLUNK INC.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685799" y="812801"/>
            <a:ext cx="10820400" cy="23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571500" lvl="0" marL="457200" algn="ctr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​"/>
              <a:defRPr b="1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algn="ctr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SzPts val="3200"/>
              <a:buFont typeface="Arial"/>
              <a:buChar char="​"/>
              <a:defRPr b="0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ctr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​"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algn="ctr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​"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algn="ctr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​"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algn="ctr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​"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algn="ctr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​"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algn="ctr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​"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algn="ctr">
              <a:lnSpc>
                <a:spcPct val="83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Arial"/>
              <a:buChar char="​"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9"/>
          <p:cNvSpPr/>
          <p:nvPr/>
        </p:nvSpPr>
        <p:spPr>
          <a:xfrm>
            <a:off x="10853492" y="44676"/>
            <a:ext cx="13386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2023 SPLUNK INC.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7251" y="6406553"/>
            <a:ext cx="750300" cy="222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xed-Width Type">
  <p:cSld name="Fixed-Width Typ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685800" y="521208"/>
            <a:ext cx="108174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685800" y="1592812"/>
            <a:ext cx="108204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0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85801" y="2368296"/>
            <a:ext cx="108174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​"/>
              <a:defRPr sz="2000">
                <a:latin typeface="Consolas"/>
                <a:ea typeface="Consolas"/>
                <a:cs typeface="Consolas"/>
                <a:sym typeface="Consolas"/>
              </a:defRPr>
            </a:lvl1pPr>
            <a:lvl2pPr indent="-3365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1700">
                <a:latin typeface="Consolas"/>
                <a:ea typeface="Consolas"/>
                <a:cs typeface="Consolas"/>
                <a:sym typeface="Consolas"/>
              </a:defRPr>
            </a:lvl2pPr>
            <a:lvl3pPr indent="-311150" lvl="2" marL="1371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>
                <a:latin typeface="Consolas"/>
                <a:ea typeface="Consolas"/>
                <a:cs typeface="Consolas"/>
                <a:sym typeface="Consolas"/>
              </a:defRPr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​"/>
              <a:defRPr>
                <a:latin typeface="Consolas"/>
                <a:ea typeface="Consolas"/>
                <a:cs typeface="Consolas"/>
                <a:sym typeface="Consolas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latin typeface="Consolas"/>
                <a:ea typeface="Consolas"/>
                <a:cs typeface="Consolas"/>
                <a:sym typeface="Consolas"/>
              </a:defRPr>
            </a:lvl5pPr>
            <a:lvl6pPr indent="-342900" lvl="5" marL="2743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“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Takeaways">
  <p:cSld name="Key Takeaway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5206831" y="812802"/>
            <a:ext cx="6299400" cy="53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441960" lvl="0" marL="457200" algn="l">
              <a:lnSpc>
                <a:spcPct val="95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ts val="3360"/>
              <a:buFont typeface="Arial"/>
              <a:buAutoNum type="arabicPeriod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17500" lvl="2" marL="1371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​"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indent="-342900" lvl="5" marL="2743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“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​"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231493"/>
            <a:ext cx="4521000" cy="6626400"/>
          </a:xfrm>
          <a:prstGeom prst="rect">
            <a:avLst/>
          </a:prstGeom>
          <a:gradFill>
            <a:gsLst>
              <a:gs pos="0">
                <a:srgbClr val="E6E6E6">
                  <a:alpha val="68235"/>
                </a:srgbClr>
              </a:gs>
              <a:gs pos="22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685799" y="812801"/>
            <a:ext cx="3156000" cy="5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95300" lvl="0" marL="4572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​"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83000"/>
              </a:lnSpc>
              <a:spcBef>
                <a:spcPts val="300"/>
              </a:spcBef>
              <a:spcAft>
                <a:spcPts val="0"/>
              </a:spcAft>
              <a:buSzPts val="2200"/>
              <a:buFont typeface="Arial"/>
              <a:buChar char="​"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9296400" y="6172200"/>
            <a:ext cx="2906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/>
          <p:cNvSpPr txBox="1"/>
          <p:nvPr>
            <p:ph type="title"/>
          </p:nvPr>
        </p:nvSpPr>
        <p:spPr>
          <a:xfrm>
            <a:off x="685800" y="521208"/>
            <a:ext cx="108174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685800" y="2368296"/>
            <a:ext cx="108174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​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“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​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/>
          <p:nvPr/>
        </p:nvSpPr>
        <p:spPr>
          <a:xfrm>
            <a:off x="10863754" y="267363"/>
            <a:ext cx="13386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2022 SPLUNK INC.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0" y="-303489"/>
            <a:ext cx="404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Splunk Corporate Template  |  TMPLT-FY23-102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048" y="0"/>
            <a:ext cx="12189000" cy="228600"/>
          </a:xfrm>
          <a:prstGeom prst="rect">
            <a:avLst/>
          </a:prstGeom>
          <a:gradFill>
            <a:gsLst>
              <a:gs pos="0">
                <a:schemeClr val="accent6"/>
              </a:gs>
              <a:gs pos="10000">
                <a:schemeClr val="accent6"/>
              </a:gs>
              <a:gs pos="40000">
                <a:schemeClr val="accent2"/>
              </a:gs>
              <a:gs pos="80000">
                <a:schemeClr val="accent1"/>
              </a:gs>
              <a:gs pos="100000">
                <a:schemeClr val="accen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51655" y="6280322"/>
            <a:ext cx="1976260" cy="4754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152">
          <p15:clr>
            <a:srgbClr val="F26B43"/>
          </p15:clr>
        </p15:guide>
        <p15:guide id="2" orient="horz" pos="912">
          <p15:clr>
            <a:srgbClr val="F26B43"/>
          </p15:clr>
        </p15:guide>
        <p15:guide id="3" orient="horz" pos="504">
          <p15:clr>
            <a:srgbClr val="F26B43"/>
          </p15:clr>
        </p15:guide>
        <p15:guide id="4" orient="horz" pos="144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orient="horz" pos="4320">
          <p15:clr>
            <a:srgbClr val="F26B43"/>
          </p15:clr>
        </p15:guide>
        <p15:guide id="8" pos="3624">
          <p15:clr>
            <a:srgbClr val="F26B43"/>
          </p15:clr>
        </p15:guide>
        <p15:guide id="9" pos="2232">
          <p15:clr>
            <a:srgbClr val="F26B43"/>
          </p15:clr>
        </p15:guide>
        <p15:guide id="10" pos="1800">
          <p15:clr>
            <a:srgbClr val="F26B43"/>
          </p15:clr>
        </p15:guide>
        <p15:guide id="11" pos="432">
          <p15:clr>
            <a:srgbClr val="F26B43"/>
          </p15:clr>
        </p15:guide>
        <p15:guide id="12">
          <p15:clr>
            <a:srgbClr val="F26B43"/>
          </p15:clr>
        </p15:guide>
        <p15:guide id="13" pos="4056">
          <p15:clr>
            <a:srgbClr val="F26B43"/>
          </p15:clr>
        </p15:guide>
        <p15:guide id="14" pos="5448">
          <p15:clr>
            <a:srgbClr val="F26B43"/>
          </p15:clr>
        </p15:guide>
        <p15:guide id="15" pos="5856">
          <p15:clr>
            <a:srgbClr val="F26B43"/>
          </p15:clr>
        </p15:guide>
        <p15:guide id="16" pos="7248">
          <p15:clr>
            <a:srgbClr val="F26B43"/>
          </p15:clr>
        </p15:guide>
        <p15:guide id="17" pos="7680">
          <p15:clr>
            <a:srgbClr val="F26B43"/>
          </p15:clr>
        </p15:guide>
        <p15:guide id="18" orient="horz" pos="14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" type="body"/>
          </p:nvPr>
        </p:nvSpPr>
        <p:spPr>
          <a:xfrm>
            <a:off x="685799" y="812801"/>
            <a:ext cx="10820400" cy="23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1200"/>
              </a:spcBef>
              <a:spcAft>
                <a:spcPts val="200"/>
              </a:spcAft>
              <a:buSzPts val="5400"/>
              <a:buNone/>
            </a:pPr>
            <a:r>
              <a:rPr lang="en-US" sz="5600"/>
              <a:t>Jaya Agrawal</a:t>
            </a:r>
            <a:endParaRPr sz="5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"/>
          <p:cNvPicPr preferRelativeResize="0"/>
          <p:nvPr/>
        </p:nvPicPr>
        <p:blipFill rotWithShape="1">
          <a:blip r:embed="rId3">
            <a:alphaModFix/>
          </a:blip>
          <a:srcRect b="21649" l="-1338" r="1338" t="31561"/>
          <a:stretch/>
        </p:blipFill>
        <p:spPr>
          <a:xfrm>
            <a:off x="191533" y="-158597"/>
            <a:ext cx="8978687" cy="66386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oogle Shape;43;p2"/>
          <p:cNvGrpSpPr/>
          <p:nvPr/>
        </p:nvGrpSpPr>
        <p:grpSpPr>
          <a:xfrm flipH="1" rot="-5400000">
            <a:off x="8756076" y="2292044"/>
            <a:ext cx="4104856" cy="4162166"/>
            <a:chOff x="888366" y="1497423"/>
            <a:chExt cx="1031345" cy="1045744"/>
          </a:xfrm>
        </p:grpSpPr>
        <p:sp>
          <p:nvSpPr>
            <p:cNvPr id="44" name="Google Shape;44;p2"/>
            <p:cNvSpPr/>
            <p:nvPr/>
          </p:nvSpPr>
          <p:spPr>
            <a:xfrm>
              <a:off x="888366" y="1497423"/>
              <a:ext cx="1031345" cy="1045744"/>
            </a:xfrm>
            <a:custGeom>
              <a:rect b="b" l="l" r="r" t="t"/>
              <a:pathLst>
                <a:path extrusionOk="0" h="1045744" w="1031345">
                  <a:moveTo>
                    <a:pt x="522971" y="1045745"/>
                  </a:moveTo>
                  <a:cubicBezTo>
                    <a:pt x="234585" y="1045745"/>
                    <a:pt x="0" y="811159"/>
                    <a:pt x="0" y="522971"/>
                  </a:cubicBezTo>
                  <a:cubicBezTo>
                    <a:pt x="0" y="234783"/>
                    <a:pt x="234585" y="0"/>
                    <a:pt x="522971" y="0"/>
                  </a:cubicBezTo>
                  <a:cubicBezTo>
                    <a:pt x="531081" y="0"/>
                    <a:pt x="537806" y="6725"/>
                    <a:pt x="537806" y="14835"/>
                  </a:cubicBezTo>
                  <a:cubicBezTo>
                    <a:pt x="537806" y="22944"/>
                    <a:pt x="531081" y="29669"/>
                    <a:pt x="522971" y="29669"/>
                  </a:cubicBezTo>
                  <a:cubicBezTo>
                    <a:pt x="251002" y="29669"/>
                    <a:pt x="29669" y="251002"/>
                    <a:pt x="29669" y="522971"/>
                  </a:cubicBezTo>
                  <a:cubicBezTo>
                    <a:pt x="29669" y="794940"/>
                    <a:pt x="251002" y="1016273"/>
                    <a:pt x="522971" y="1016273"/>
                  </a:cubicBezTo>
                  <a:cubicBezTo>
                    <a:pt x="750831" y="1016273"/>
                    <a:pt x="947835" y="861795"/>
                    <a:pt x="1002031" y="640462"/>
                  </a:cubicBezTo>
                  <a:cubicBezTo>
                    <a:pt x="1004009" y="632550"/>
                    <a:pt x="1011921" y="627605"/>
                    <a:pt x="1020031" y="629583"/>
                  </a:cubicBezTo>
                  <a:cubicBezTo>
                    <a:pt x="1027943" y="631561"/>
                    <a:pt x="1032888" y="639473"/>
                    <a:pt x="1030910" y="647582"/>
                  </a:cubicBezTo>
                  <a:cubicBezTo>
                    <a:pt x="973351" y="881970"/>
                    <a:pt x="764479" y="1045745"/>
                    <a:pt x="522971" y="1045745"/>
                  </a:cubicBezTo>
                  <a:close/>
                </a:path>
              </a:pathLst>
            </a:custGeom>
            <a:gradFill>
              <a:gsLst>
                <a:gs pos="0">
                  <a:srgbClr val="F99D1C">
                    <a:alpha val="16078"/>
                  </a:srgbClr>
                </a:gs>
                <a:gs pos="10000">
                  <a:srgbClr val="F99D1C">
                    <a:alpha val="16078"/>
                  </a:srgbClr>
                </a:gs>
                <a:gs pos="40000">
                  <a:srgbClr val="F56A00">
                    <a:alpha val="41176"/>
                  </a:srgbClr>
                </a:gs>
                <a:gs pos="80000">
                  <a:srgbClr val="FD008F">
                    <a:alpha val="21176"/>
                  </a:srgbClr>
                </a:gs>
                <a:gs pos="100000">
                  <a:srgbClr val="FD008F">
                    <a:alpha val="2117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960165" y="1569024"/>
              <a:ext cx="830679" cy="902342"/>
            </a:xfrm>
            <a:custGeom>
              <a:rect b="b" l="l" r="r" t="t"/>
              <a:pathLst>
                <a:path extrusionOk="0" h="902342" w="830679">
                  <a:moveTo>
                    <a:pt x="451171" y="902343"/>
                  </a:moveTo>
                  <a:cubicBezTo>
                    <a:pt x="202345" y="902343"/>
                    <a:pt x="0" y="699998"/>
                    <a:pt x="0" y="451171"/>
                  </a:cubicBezTo>
                  <a:cubicBezTo>
                    <a:pt x="0" y="202345"/>
                    <a:pt x="202345" y="0"/>
                    <a:pt x="451171" y="0"/>
                  </a:cubicBezTo>
                  <a:cubicBezTo>
                    <a:pt x="459281" y="0"/>
                    <a:pt x="466006" y="6725"/>
                    <a:pt x="466006" y="14835"/>
                  </a:cubicBezTo>
                  <a:cubicBezTo>
                    <a:pt x="466006" y="22944"/>
                    <a:pt x="459281" y="29669"/>
                    <a:pt x="451171" y="29669"/>
                  </a:cubicBezTo>
                  <a:cubicBezTo>
                    <a:pt x="218762" y="29669"/>
                    <a:pt x="29669" y="218762"/>
                    <a:pt x="29669" y="451171"/>
                  </a:cubicBezTo>
                  <a:cubicBezTo>
                    <a:pt x="29669" y="683581"/>
                    <a:pt x="218762" y="872674"/>
                    <a:pt x="451171" y="872674"/>
                  </a:cubicBezTo>
                  <a:cubicBezTo>
                    <a:pt x="593188" y="872674"/>
                    <a:pt x="724920" y="801467"/>
                    <a:pt x="803445" y="682394"/>
                  </a:cubicBezTo>
                  <a:cubicBezTo>
                    <a:pt x="807994" y="675472"/>
                    <a:pt x="817093" y="673691"/>
                    <a:pt x="824016" y="678241"/>
                  </a:cubicBezTo>
                  <a:cubicBezTo>
                    <a:pt x="830938" y="682790"/>
                    <a:pt x="832719" y="691889"/>
                    <a:pt x="828169" y="698811"/>
                  </a:cubicBezTo>
                  <a:cubicBezTo>
                    <a:pt x="744106" y="826390"/>
                    <a:pt x="603078" y="902343"/>
                    <a:pt x="451171" y="902343"/>
                  </a:cubicBezTo>
                  <a:close/>
                </a:path>
              </a:pathLst>
            </a:custGeom>
            <a:gradFill>
              <a:gsLst>
                <a:gs pos="0">
                  <a:srgbClr val="F99D1C">
                    <a:alpha val="16078"/>
                  </a:srgbClr>
                </a:gs>
                <a:gs pos="10000">
                  <a:srgbClr val="F99D1C">
                    <a:alpha val="16078"/>
                  </a:srgbClr>
                </a:gs>
                <a:gs pos="40000">
                  <a:srgbClr val="F56A00">
                    <a:alpha val="41176"/>
                  </a:srgbClr>
                </a:gs>
                <a:gs pos="80000">
                  <a:srgbClr val="FD008F">
                    <a:alpha val="21176"/>
                  </a:srgbClr>
                </a:gs>
                <a:gs pos="100000">
                  <a:srgbClr val="FD008F">
                    <a:alpha val="2117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031965" y="1641022"/>
              <a:ext cx="758743" cy="758743"/>
            </a:xfrm>
            <a:custGeom>
              <a:rect b="b" l="l" r="r" t="t"/>
              <a:pathLst>
                <a:path extrusionOk="0" h="758743" w="758743">
                  <a:moveTo>
                    <a:pt x="379372" y="758743"/>
                  </a:moveTo>
                  <a:cubicBezTo>
                    <a:pt x="170104" y="758743"/>
                    <a:pt x="0" y="588442"/>
                    <a:pt x="0" y="379372"/>
                  </a:cubicBezTo>
                  <a:cubicBezTo>
                    <a:pt x="0" y="170104"/>
                    <a:pt x="170302" y="0"/>
                    <a:pt x="379372" y="0"/>
                  </a:cubicBezTo>
                  <a:cubicBezTo>
                    <a:pt x="387481" y="0"/>
                    <a:pt x="394206" y="6725"/>
                    <a:pt x="394206" y="14835"/>
                  </a:cubicBezTo>
                  <a:cubicBezTo>
                    <a:pt x="394206" y="22944"/>
                    <a:pt x="387481" y="29669"/>
                    <a:pt x="379372" y="29669"/>
                  </a:cubicBezTo>
                  <a:cubicBezTo>
                    <a:pt x="186521" y="29669"/>
                    <a:pt x="29669" y="186521"/>
                    <a:pt x="29669" y="379372"/>
                  </a:cubicBezTo>
                  <a:cubicBezTo>
                    <a:pt x="29669" y="572222"/>
                    <a:pt x="186521" y="729074"/>
                    <a:pt x="379372" y="729074"/>
                  </a:cubicBezTo>
                  <a:cubicBezTo>
                    <a:pt x="572222" y="729074"/>
                    <a:pt x="729074" y="572222"/>
                    <a:pt x="729074" y="379372"/>
                  </a:cubicBezTo>
                  <a:cubicBezTo>
                    <a:pt x="729074" y="371262"/>
                    <a:pt x="735799" y="364537"/>
                    <a:pt x="743908" y="364537"/>
                  </a:cubicBezTo>
                  <a:cubicBezTo>
                    <a:pt x="752018" y="364537"/>
                    <a:pt x="758743" y="371262"/>
                    <a:pt x="758743" y="379372"/>
                  </a:cubicBezTo>
                  <a:cubicBezTo>
                    <a:pt x="758743" y="588442"/>
                    <a:pt x="588441" y="758743"/>
                    <a:pt x="379372" y="758743"/>
                  </a:cubicBezTo>
                  <a:close/>
                </a:path>
              </a:pathLst>
            </a:custGeom>
            <a:gradFill>
              <a:gsLst>
                <a:gs pos="0">
                  <a:srgbClr val="F99D1C">
                    <a:alpha val="16078"/>
                  </a:srgbClr>
                </a:gs>
                <a:gs pos="10000">
                  <a:srgbClr val="F99D1C">
                    <a:alpha val="16078"/>
                  </a:srgbClr>
                </a:gs>
                <a:gs pos="40000">
                  <a:srgbClr val="F56A00">
                    <a:alpha val="41176"/>
                  </a:srgbClr>
                </a:gs>
                <a:gs pos="80000">
                  <a:srgbClr val="FD008F">
                    <a:alpha val="21176"/>
                  </a:srgbClr>
                </a:gs>
                <a:gs pos="100000">
                  <a:srgbClr val="FD008F">
                    <a:alpha val="2117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103567" y="1712426"/>
              <a:ext cx="363307" cy="615539"/>
            </a:xfrm>
            <a:custGeom>
              <a:rect b="b" l="l" r="r" t="t"/>
              <a:pathLst>
                <a:path extrusionOk="0" h="615539" w="363307">
                  <a:moveTo>
                    <a:pt x="307770" y="615540"/>
                  </a:moveTo>
                  <a:cubicBezTo>
                    <a:pt x="138061" y="615540"/>
                    <a:pt x="0" y="477478"/>
                    <a:pt x="0" y="307770"/>
                  </a:cubicBezTo>
                  <a:cubicBezTo>
                    <a:pt x="0" y="138061"/>
                    <a:pt x="138061" y="0"/>
                    <a:pt x="307770" y="0"/>
                  </a:cubicBezTo>
                  <a:cubicBezTo>
                    <a:pt x="315879" y="0"/>
                    <a:pt x="322604" y="6725"/>
                    <a:pt x="322604" y="14835"/>
                  </a:cubicBezTo>
                  <a:cubicBezTo>
                    <a:pt x="322604" y="22944"/>
                    <a:pt x="315879" y="29669"/>
                    <a:pt x="307770" y="29669"/>
                  </a:cubicBezTo>
                  <a:cubicBezTo>
                    <a:pt x="154478" y="29669"/>
                    <a:pt x="29669" y="154478"/>
                    <a:pt x="29669" y="307770"/>
                  </a:cubicBezTo>
                  <a:cubicBezTo>
                    <a:pt x="29669" y="461061"/>
                    <a:pt x="154478" y="585870"/>
                    <a:pt x="307770" y="585870"/>
                  </a:cubicBezTo>
                  <a:cubicBezTo>
                    <a:pt x="320626" y="585870"/>
                    <a:pt x="333681" y="584881"/>
                    <a:pt x="346340" y="583299"/>
                  </a:cubicBezTo>
                  <a:cubicBezTo>
                    <a:pt x="354449" y="582112"/>
                    <a:pt x="361966" y="587848"/>
                    <a:pt x="363152" y="595958"/>
                  </a:cubicBezTo>
                  <a:cubicBezTo>
                    <a:pt x="364339" y="604067"/>
                    <a:pt x="358603" y="611584"/>
                    <a:pt x="350493" y="612770"/>
                  </a:cubicBezTo>
                  <a:cubicBezTo>
                    <a:pt x="336252" y="614551"/>
                    <a:pt x="322011" y="615540"/>
                    <a:pt x="307770" y="615540"/>
                  </a:cubicBezTo>
                  <a:close/>
                </a:path>
              </a:pathLst>
            </a:custGeom>
            <a:gradFill>
              <a:gsLst>
                <a:gs pos="0">
                  <a:srgbClr val="F99D1C">
                    <a:alpha val="16078"/>
                  </a:srgbClr>
                </a:gs>
                <a:gs pos="10000">
                  <a:srgbClr val="F99D1C">
                    <a:alpha val="16078"/>
                  </a:srgbClr>
                </a:gs>
                <a:gs pos="40000">
                  <a:srgbClr val="F56A00">
                    <a:alpha val="41176"/>
                  </a:srgbClr>
                </a:gs>
                <a:gs pos="80000">
                  <a:srgbClr val="FD008F">
                    <a:alpha val="21176"/>
                  </a:srgbClr>
                </a:gs>
                <a:gs pos="100000">
                  <a:srgbClr val="FD008F">
                    <a:alpha val="2117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175367" y="1784424"/>
              <a:ext cx="464556" cy="471939"/>
            </a:xfrm>
            <a:custGeom>
              <a:rect b="b" l="l" r="r" t="t"/>
              <a:pathLst>
                <a:path extrusionOk="0" h="471939" w="464556">
                  <a:moveTo>
                    <a:pt x="235970" y="471940"/>
                  </a:moveTo>
                  <a:cubicBezTo>
                    <a:pt x="105821" y="471940"/>
                    <a:pt x="0" y="366119"/>
                    <a:pt x="0" y="235970"/>
                  </a:cubicBezTo>
                  <a:cubicBezTo>
                    <a:pt x="0" y="105821"/>
                    <a:pt x="105821" y="0"/>
                    <a:pt x="235970" y="0"/>
                  </a:cubicBezTo>
                  <a:cubicBezTo>
                    <a:pt x="244080" y="0"/>
                    <a:pt x="250805" y="6725"/>
                    <a:pt x="250805" y="14835"/>
                  </a:cubicBezTo>
                  <a:cubicBezTo>
                    <a:pt x="250805" y="22944"/>
                    <a:pt x="244080" y="29669"/>
                    <a:pt x="235970" y="29669"/>
                  </a:cubicBezTo>
                  <a:cubicBezTo>
                    <a:pt x="122040" y="29472"/>
                    <a:pt x="29472" y="122040"/>
                    <a:pt x="29472" y="235970"/>
                  </a:cubicBezTo>
                  <a:cubicBezTo>
                    <a:pt x="29472" y="349900"/>
                    <a:pt x="122040" y="442271"/>
                    <a:pt x="235772" y="442271"/>
                  </a:cubicBezTo>
                  <a:cubicBezTo>
                    <a:pt x="329329" y="442271"/>
                    <a:pt x="411414" y="379174"/>
                    <a:pt x="435348" y="288584"/>
                  </a:cubicBezTo>
                  <a:cubicBezTo>
                    <a:pt x="437523" y="280672"/>
                    <a:pt x="445633" y="275925"/>
                    <a:pt x="453545" y="278100"/>
                  </a:cubicBezTo>
                  <a:cubicBezTo>
                    <a:pt x="461457" y="280276"/>
                    <a:pt x="466204" y="288386"/>
                    <a:pt x="464028" y="296298"/>
                  </a:cubicBezTo>
                  <a:cubicBezTo>
                    <a:pt x="436732" y="399547"/>
                    <a:pt x="342977" y="471940"/>
                    <a:pt x="235970" y="471940"/>
                  </a:cubicBezTo>
                  <a:close/>
                </a:path>
              </a:pathLst>
            </a:custGeom>
            <a:gradFill>
              <a:gsLst>
                <a:gs pos="0">
                  <a:srgbClr val="F99D1C">
                    <a:alpha val="16078"/>
                  </a:srgbClr>
                </a:gs>
                <a:gs pos="10000">
                  <a:srgbClr val="F99D1C">
                    <a:alpha val="16078"/>
                  </a:srgbClr>
                </a:gs>
                <a:gs pos="40000">
                  <a:srgbClr val="F56A00">
                    <a:alpha val="41176"/>
                  </a:srgbClr>
                </a:gs>
                <a:gs pos="80000">
                  <a:srgbClr val="FD008F">
                    <a:alpha val="21176"/>
                  </a:srgbClr>
                </a:gs>
                <a:gs pos="100000">
                  <a:srgbClr val="FD008F">
                    <a:alpha val="2117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247166" y="1856223"/>
              <a:ext cx="293507" cy="328340"/>
            </a:xfrm>
            <a:custGeom>
              <a:rect b="b" l="l" r="r" t="t"/>
              <a:pathLst>
                <a:path extrusionOk="0" h="328340" w="293507">
                  <a:moveTo>
                    <a:pt x="164170" y="328341"/>
                  </a:moveTo>
                  <a:cubicBezTo>
                    <a:pt x="73580" y="328341"/>
                    <a:pt x="0" y="254563"/>
                    <a:pt x="0" y="164170"/>
                  </a:cubicBezTo>
                  <a:cubicBezTo>
                    <a:pt x="0" y="73778"/>
                    <a:pt x="73778" y="0"/>
                    <a:pt x="164170" y="0"/>
                  </a:cubicBezTo>
                  <a:cubicBezTo>
                    <a:pt x="172280" y="0"/>
                    <a:pt x="179005" y="6725"/>
                    <a:pt x="179005" y="14835"/>
                  </a:cubicBezTo>
                  <a:cubicBezTo>
                    <a:pt x="179005" y="22944"/>
                    <a:pt x="172280" y="29669"/>
                    <a:pt x="164170" y="29669"/>
                  </a:cubicBezTo>
                  <a:cubicBezTo>
                    <a:pt x="89997" y="29669"/>
                    <a:pt x="29669" y="89997"/>
                    <a:pt x="29669" y="164170"/>
                  </a:cubicBezTo>
                  <a:cubicBezTo>
                    <a:pt x="29669" y="238344"/>
                    <a:pt x="89997" y="298671"/>
                    <a:pt x="164170" y="298671"/>
                  </a:cubicBezTo>
                  <a:cubicBezTo>
                    <a:pt x="203927" y="298671"/>
                    <a:pt x="241508" y="281265"/>
                    <a:pt x="267222" y="250607"/>
                  </a:cubicBezTo>
                  <a:cubicBezTo>
                    <a:pt x="272562" y="244277"/>
                    <a:pt x="281858" y="243486"/>
                    <a:pt x="288188" y="248827"/>
                  </a:cubicBezTo>
                  <a:cubicBezTo>
                    <a:pt x="294517" y="254167"/>
                    <a:pt x="295309" y="263464"/>
                    <a:pt x="289968" y="269793"/>
                  </a:cubicBezTo>
                  <a:cubicBezTo>
                    <a:pt x="258519" y="306979"/>
                    <a:pt x="212630" y="328341"/>
                    <a:pt x="164170" y="328341"/>
                  </a:cubicBezTo>
                  <a:close/>
                </a:path>
              </a:pathLst>
            </a:custGeom>
            <a:gradFill>
              <a:gsLst>
                <a:gs pos="0">
                  <a:srgbClr val="F99D1C">
                    <a:alpha val="16078"/>
                  </a:srgbClr>
                </a:gs>
                <a:gs pos="10000">
                  <a:srgbClr val="F99D1C">
                    <a:alpha val="16078"/>
                  </a:srgbClr>
                </a:gs>
                <a:gs pos="40000">
                  <a:srgbClr val="F56A00">
                    <a:alpha val="41176"/>
                  </a:srgbClr>
                </a:gs>
                <a:gs pos="80000">
                  <a:srgbClr val="FD008F">
                    <a:alpha val="21176"/>
                  </a:srgbClr>
                </a:gs>
                <a:gs pos="100000">
                  <a:srgbClr val="FD008F">
                    <a:alpha val="2117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2"/>
          <p:cNvSpPr txBox="1"/>
          <p:nvPr/>
        </p:nvSpPr>
        <p:spPr>
          <a:xfrm>
            <a:off x="160675" y="3205013"/>
            <a:ext cx="21717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en-US" sz="1300"/>
              <a:t>Palo Alto</a:t>
            </a:r>
            <a:r>
              <a:rPr b="0" i="1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1300"/>
              <a:t>C</a:t>
            </a:r>
            <a:r>
              <a:rPr b="0" i="1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en-US" sz="1300"/>
              <a:t>2</a:t>
            </a:r>
            <a:r>
              <a:rPr b="0" i="1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Years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69525" y="2617850"/>
            <a:ext cx="2136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/>
              <a:t>Jaya Agrawal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/>
              <a:t>Sr. Accountant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/>
              <a:t>Corporate Accounting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0" y="152900"/>
            <a:ext cx="9130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Talent Profile: J</a:t>
            </a:r>
            <a:r>
              <a:rPr lang="en-US" sz="2000">
                <a:solidFill>
                  <a:schemeClr val="accent1"/>
                </a:solidFill>
              </a:rPr>
              <a:t>aya Agrawal</a:t>
            </a: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 M</a:t>
            </a:r>
            <a:r>
              <a:rPr lang="en-US" sz="2000">
                <a:solidFill>
                  <a:schemeClr val="accent1"/>
                </a:solidFill>
              </a:rPr>
              <a:t>BA</a:t>
            </a:r>
            <a:endParaRPr b="0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" name="Google Shape;53;p2"/>
          <p:cNvGraphicFramePr/>
          <p:nvPr/>
        </p:nvGraphicFramePr>
        <p:xfrm>
          <a:off x="160667" y="35371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{612026D1-72C1-4F5F-B153-426513F6540D}</a:tableStyleId>
              </a:tblPr>
              <a:tblGrid>
                <a:gridCol w="2136000"/>
              </a:tblGrid>
              <a:tr h="47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2"/>
                          </a:solidFill>
                        </a:rPr>
                        <a:t>Key Outcomes for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2"/>
                          </a:solidFill>
                        </a:rPr>
                        <a:t>Current Role</a:t>
                      </a:r>
                      <a:endParaRPr sz="1200" u="none" cap="none" strike="noStrike">
                        <a:solidFill>
                          <a:schemeClr val="l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277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-  </a:t>
                      </a:r>
                      <a:r>
                        <a:rPr lang="en-US" sz="1000"/>
                        <a:t>Developed new strategy that would allow the prepaid rent review process to start mid-month, rather than in the last 5 days of the month, through managing 4 HTC members to on how to perform the review and detect issues. Thus reducing </a:t>
                      </a:r>
                      <a:r>
                        <a:rPr lang="en-US" sz="1000"/>
                        <a:t>75% of manual effort. </a:t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- </a:t>
                      </a:r>
                      <a:r>
                        <a:rPr lang="en-US" sz="1000"/>
                        <a:t>Gain a deeper understanding of the system to improve the accuracy of rent reporting.</a:t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- Conduct an in-depth analysis of the process and collaborate with business owners to optimize the PO accrual and lease management</a:t>
                      </a:r>
                      <a:r>
                        <a:rPr lang="en-US" sz="1000"/>
                        <a:t>. 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68575" marL="68575"/>
                </a:tc>
              </a:tr>
            </a:tbl>
          </a:graphicData>
        </a:graphic>
      </p:graphicFrame>
      <p:graphicFrame>
        <p:nvGraphicFramePr>
          <p:cNvPr id="54" name="Google Shape;54;p2"/>
          <p:cNvGraphicFramePr/>
          <p:nvPr/>
        </p:nvGraphicFramePr>
        <p:xfrm>
          <a:off x="2420712" y="5844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{058B1F3F-0E4E-4FB9-892F-2C04FCC51893}</a:tableStyleId>
              </a:tblPr>
              <a:tblGrid>
                <a:gridCol w="6598250"/>
              </a:tblGrid>
              <a:tr h="28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</a:rPr>
                        <a:t>My Brand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101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47C"/>
                        </a:buClr>
                        <a:buSzPts val="126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As a finance and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accounting 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 professional, I bring about 12 years of experience, during which I owned various aspects of accounting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&amp; finance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 - 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includ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es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 AR, AP, Cash, fixed-asset, Payroll, and reporting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 in various roles. 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I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excel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 in a fast-paced environment with changing priorities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. I am passionate about 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resolving issues,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learning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 about the business. New concepts and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changing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scenarios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motivates me as it require to brainstorm, apply new accounting standards and business acumen.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 My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strength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 lies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 </a:t>
                      </a:r>
                      <a:r>
                        <a:rPr lang="en-US" sz="1000"/>
                        <a:t>understanding the need of business partner, 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effectively communicating accounting details,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engaging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 in live discussions with FP&amp;A, and demonstrating the ability to execute tasks while managing competing priorities.</a:t>
                      </a:r>
                      <a:endParaRPr sz="1400" u="none" cap="none" strike="noStrike"/>
                    </a:p>
                  </a:txBody>
                  <a:tcPr marT="45725" marB="45725" marR="68575" marL="68575">
                    <a:solidFill>
                      <a:srgbClr val="FEEFE7">
                        <a:alpha val="7254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Google Shape;55;p2"/>
          <p:cNvGraphicFramePr/>
          <p:nvPr/>
        </p:nvGraphicFramePr>
        <p:xfrm>
          <a:off x="2420712" y="20690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{058B1F3F-0E4E-4FB9-892F-2C04FCC51893}</a:tableStyleId>
              </a:tblPr>
              <a:tblGrid>
                <a:gridCol w="6643300"/>
              </a:tblGrid>
              <a:tr h="2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</a:rPr>
                        <a:t>Education</a:t>
                      </a: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4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Masters of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Finance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, Accounting |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Korea</a:t>
                      </a: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</a:rPr>
                        <a:t> University | 20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08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Bachelors of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Art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Language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  | 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Jawaharlal Nehru</a:t>
                      </a: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</a:rPr>
                        <a:t> University | 200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3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solidFill>
                      <a:srgbClr val="FEEFE7">
                        <a:alpha val="7254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Google Shape;56;p2"/>
          <p:cNvGraphicFramePr/>
          <p:nvPr/>
        </p:nvGraphicFramePr>
        <p:xfrm>
          <a:off x="2398562" y="28026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{058B1F3F-0E4E-4FB9-892F-2C04FCC51893}</a:tableStyleId>
              </a:tblPr>
              <a:tblGrid>
                <a:gridCol w="6692800"/>
              </a:tblGrid>
              <a:tr h="28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Positions at Splunk, Key Experiences</a:t>
                      </a:r>
                      <a:endParaRPr b="1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68575" marL="68575"/>
                </a:tc>
              </a:tr>
              <a:tr h="134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Sr. Accountant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Corporate Accounting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| 4 Years</a:t>
                      </a:r>
                      <a:r>
                        <a:rPr i="1" lang="en-US" sz="900">
                          <a:solidFill>
                            <a:srgbClr val="000000"/>
                          </a:solidFill>
                        </a:rPr>
                        <a:t> (First 2yrs </a:t>
                      </a:r>
                      <a:r>
                        <a:rPr i="1" lang="en-US" sz="900">
                          <a:solidFill>
                            <a:srgbClr val="000000"/>
                          </a:solidFill>
                        </a:rPr>
                        <a:t>consulting</a:t>
                      </a:r>
                      <a:r>
                        <a:rPr i="1" lang="en-US" sz="900">
                          <a:solidFill>
                            <a:srgbClr val="000000"/>
                          </a:solidFill>
                        </a:rPr>
                        <a:t> followed by full time role)</a:t>
                      </a:r>
                      <a:endParaRPr i="1" sz="9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1" sz="9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en-US" sz="900"/>
                        <a:t> Led the team of 3 to execute the accounting process for the worldwide rent include 55 lease contracts. Implemented new strategy to enhance the accuracy &amp; efficiencies.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 Owned the accounting for</a:t>
                      </a:r>
                      <a:r>
                        <a:rPr b="0" lang="en-US" sz="9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WS/Azure and GCP that represent over 10% of total expense. It required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 understanding of complex contract, its accounting treatment and drives resolutions to internal control and accounting issues.   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cap="none" strike="noStrike"/>
                        <a:t>- Act as SME for PO accrual for</a:t>
                      </a:r>
                      <a:r>
                        <a:rPr lang="en-US" sz="900"/>
                        <a:t> </a:t>
                      </a:r>
                      <a:r>
                        <a:rPr lang="en-US" sz="900" u="none" cap="none" strike="noStrike"/>
                        <a:t>CSX, P&amp;T and sales group</a:t>
                      </a:r>
                      <a:r>
                        <a:rPr lang="en-US" sz="900"/>
                        <a:t>. </a:t>
                      </a:r>
                      <a:r>
                        <a:rPr lang="en-US" sz="900"/>
                        <a:t>Worked independently to execute monthly</a:t>
                      </a:r>
                      <a:r>
                        <a:rPr lang="en-US" sz="900" u="none" cap="none" strike="noStrike"/>
                        <a:t> </a:t>
                      </a:r>
                      <a:r>
                        <a:rPr lang="en-US" sz="900"/>
                        <a:t>PO accruals and </a:t>
                      </a:r>
                      <a:r>
                        <a:rPr lang="en-US" sz="900"/>
                        <a:t>ensure of related </a:t>
                      </a:r>
                      <a:r>
                        <a:rPr lang="en-US" sz="900"/>
                        <a:t>accounting controls in complex areas. 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- System Integration NS to SAP - working with integration team on mapping &amp; cost plus accounting. </a:t>
                      </a:r>
                      <a:endParaRPr sz="900"/>
                    </a:p>
                  </a:txBody>
                  <a:tcPr marT="45725" marB="45725" marR="68575" marL="68575">
                    <a:solidFill>
                      <a:srgbClr val="FEEFE7">
                        <a:alpha val="7254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Google Shape;57;p2"/>
          <p:cNvGraphicFramePr/>
          <p:nvPr/>
        </p:nvGraphicFramePr>
        <p:xfrm>
          <a:off x="2420712" y="44780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{058B1F3F-0E4E-4FB9-892F-2C04FCC51893}</a:tableStyleId>
              </a:tblPr>
              <a:tblGrid>
                <a:gridCol w="6643300"/>
              </a:tblGrid>
              <a:tr h="230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Positions Prior to Splunk, Key Experiences</a:t>
                      </a:r>
                      <a:endParaRPr b="1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68575" marL="68575"/>
                </a:tc>
              </a:tr>
              <a:tr h="204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/>
                        <a:t>Sr. Accountant | Heartflow | 1 year</a:t>
                      </a:r>
                      <a:endParaRPr sz="1400" u="none" cap="none" strike="noStrike"/>
                    </a:p>
                    <a:p>
                      <a:pPr indent="-95250" lvl="0" marL="11430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-"/>
                      </a:pPr>
                      <a:r>
                        <a:rPr lang="en-US" sz="900"/>
                        <a:t>Lead end-to-end multi-currency revenue accounting, complex contract review &amp; document policies and procedure.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Sr.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1" lang="en-US" sz="1000"/>
                        <a:t>Accountant-Fixed Asset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 |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Verity Health System | 2 years</a:t>
                      </a:r>
                      <a:endParaRPr b="1" sz="10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- Owned Fixed asset accounting includes: capex analysis, project approval &amp; its tracking, property tax filing, process Improvements.</a:t>
                      </a:r>
                      <a:r>
                        <a:rPr lang="en-US" sz="1000"/>
                        <a:t> </a:t>
                      </a:r>
                      <a:endParaRPr b="1" sz="10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Lead Accountant 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b="1" lang="en-US" sz="1000"/>
                        <a:t>Spire System | 3 years</a:t>
                      </a:r>
                      <a:endParaRPr sz="1400" u="none" cap="none" strike="noStrike"/>
                    </a:p>
                    <a:p>
                      <a:pPr indent="-9525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-"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Managed end to end accounting process and monthly close that includes: Revenue, Expense, AP, Vendor payment, Sales commission, Payroll, Cash &amp; Management reports. 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Accountant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, Corporate Accounting |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Adchemy (</a:t>
                      </a:r>
                      <a:r>
                        <a:rPr b="1" i="1" lang="en-US" sz="800">
                          <a:solidFill>
                            <a:srgbClr val="000000"/>
                          </a:solidFill>
                        </a:rPr>
                        <a:t>Acquired by Walmart) |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1 year</a:t>
                      </a:r>
                      <a:endParaRPr i="1" sz="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- 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Responsible for Credit Card expense management and Revenue close include sales report, invoicing, cash application.  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Financial Analyst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FPA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 |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Franklin Templeton</a:t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</a:rPr>
                        <a:t>| 1 year</a:t>
                      </a:r>
                      <a:b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</a:b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- 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Analyzed budget proposals, financial reporting, track expenditures, and developed recommendations for budget allowances. 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68575" marL="68575">
                    <a:solidFill>
                      <a:srgbClr val="FEEFE7">
                        <a:alpha val="7255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Google Shape;58;p2"/>
          <p:cNvGraphicFramePr/>
          <p:nvPr/>
        </p:nvGraphicFramePr>
        <p:xfrm>
          <a:off x="9261478" y="538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{FB68DA05-4A27-4A76-8241-F4010A363FA5}</a:tableStyleId>
              </a:tblPr>
              <a:tblGrid>
                <a:gridCol w="2709550"/>
              </a:tblGrid>
              <a:tr h="28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2"/>
                          </a:solidFill>
                        </a:rPr>
                        <a:t>Key Strengths</a:t>
                      </a:r>
                      <a:endParaRPr sz="1200" u="none" cap="none" strike="noStrike">
                        <a:solidFill>
                          <a:schemeClr val="l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115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Arial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In Depth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understanding of GAAP accounting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Ownership of full cycle close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process 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accent5"/>
                          </a:solidFill>
                        </a:rPr>
                        <a:t>ASC 606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&amp; </a:t>
                      </a:r>
                      <a:r>
                        <a:rPr lang="en-US" sz="900" u="none" cap="none" strike="noStrike">
                          <a:solidFill>
                            <a:schemeClr val="accent5"/>
                          </a:solidFill>
                        </a:rPr>
                        <a:t>ASC 8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4</a:t>
                      </a:r>
                      <a:r>
                        <a:rPr lang="en-US" sz="9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sz="900" u="none" cap="none" strike="noStrike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Arial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accent5"/>
                          </a:solidFill>
                        </a:rPr>
                        <a:t>Collaborati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on and teamspirit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Arial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Ability to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grasp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and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communicate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complex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process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68575" marL="68575">
                    <a:solidFill>
                      <a:srgbClr val="FBE6ED">
                        <a:alpha val="7254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Google Shape;59;p2"/>
          <p:cNvGraphicFramePr/>
          <p:nvPr/>
        </p:nvGraphicFramePr>
        <p:xfrm>
          <a:off x="9303941" y="35035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{FB68DA05-4A27-4A76-8241-F4010A363FA5}</a:tableStyleId>
              </a:tblPr>
              <a:tblGrid>
                <a:gridCol w="2667075"/>
              </a:tblGrid>
              <a:tr h="29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2"/>
                          </a:solidFill>
                        </a:rPr>
                        <a:t>Background / Skills</a:t>
                      </a:r>
                      <a:endParaRPr i="0" sz="1200" u="none" cap="none" strike="noStrike">
                        <a:solidFill>
                          <a:schemeClr val="l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1826850">
                <a:tc>
                  <a:txBody>
                    <a:bodyPr/>
                    <a:lstStyle/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b="1" lang="en-US" sz="900">
                          <a:solidFill>
                            <a:schemeClr val="accent5"/>
                          </a:solidFill>
                        </a:rPr>
                        <a:t>A</a:t>
                      </a:r>
                      <a:r>
                        <a:rPr b="1" lang="en-US" sz="900">
                          <a:solidFill>
                            <a:schemeClr val="accent5"/>
                          </a:solidFill>
                        </a:rPr>
                        <a:t>ccounting: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Capex analysis, Multicurrency SAAS revenue, lease contract,  expense reimburse policies,, cost-plus accounting and its integration. 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b="1" lang="en-US" sz="900">
                          <a:solidFill>
                            <a:schemeClr val="accent5"/>
                          </a:solidFill>
                        </a:rPr>
                        <a:t>Finance: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Budgeting, forecasting &amp; variance analysis. 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b="1" lang="en-US" sz="900">
                          <a:solidFill>
                            <a:schemeClr val="accent5"/>
                          </a:solidFill>
                        </a:rPr>
                        <a:t>Reporting: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Enhancement, mapping,Recons, old bal. clean-ups, flux. 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b="1" lang="en-US" sz="900">
                          <a:solidFill>
                            <a:schemeClr val="accent5"/>
                          </a:solidFill>
                        </a:rPr>
                        <a:t>System: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Netsuite, SAP, Oracle, quickbooks Recurly, bill.com, Salesforce, Adaptive. 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b="1" lang="en-US" sz="900">
                          <a:solidFill>
                            <a:schemeClr val="accent5"/>
                          </a:solidFill>
                        </a:rPr>
                        <a:t>Ad-hoc Project: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Integration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, Audit, SOX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compliance, Tax filing.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68575" marL="68575">
                    <a:solidFill>
                      <a:srgbClr val="FBE6ED">
                        <a:alpha val="7254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Google Shape;60;p2"/>
          <p:cNvGraphicFramePr/>
          <p:nvPr/>
        </p:nvGraphicFramePr>
        <p:xfrm>
          <a:off x="9323591" y="5808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{FB68DA05-4A27-4A76-8241-F4010A363FA5}</a:tableStyleId>
              </a:tblPr>
              <a:tblGrid>
                <a:gridCol w="2709550"/>
              </a:tblGrid>
              <a:tr h="24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2"/>
                          </a:solidFill>
                        </a:rPr>
                        <a:t>Next Possible Assignment</a:t>
                      </a:r>
                      <a:endParaRPr i="0" sz="1200" u="none" cap="none" strike="noStrike">
                        <a:solidFill>
                          <a:schemeClr val="l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730100">
                <a:tc>
                  <a:txBody>
                    <a:bodyPr/>
                    <a:lstStyle/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Accounting Manager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accent5"/>
                          </a:solidFill>
                        </a:rPr>
                        <a:t>Revenue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Operation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SEC Accountant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2857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Processes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 transformation projects</a:t>
                      </a:r>
                      <a:endParaRPr sz="9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68575" marL="68575">
                    <a:solidFill>
                      <a:srgbClr val="FBE6ED">
                        <a:alpha val="7254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Google Shape;61;p2"/>
          <p:cNvGraphicFramePr/>
          <p:nvPr/>
        </p:nvGraphicFramePr>
        <p:xfrm>
          <a:off x="9303953" y="2098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{FB68DA05-4A27-4A76-8241-F4010A363FA5}</a:tableStyleId>
              </a:tblPr>
              <a:tblGrid>
                <a:gridCol w="2667075"/>
              </a:tblGrid>
              <a:tr h="29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2"/>
                          </a:solidFill>
                        </a:rPr>
                        <a:t>Key Opportunities</a:t>
                      </a:r>
                      <a:endParaRPr sz="1200" u="none" cap="none" strike="noStrike">
                        <a:solidFill>
                          <a:schemeClr val="l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92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Standardization of </a:t>
                      </a: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process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Understanding IT Integration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Networking and building cross functional relationships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  <a:p>
                      <a:pPr indent="-1524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Char char="●"/>
                      </a:pPr>
                      <a:r>
                        <a:rPr lang="en-US" sz="900">
                          <a:solidFill>
                            <a:schemeClr val="accent5"/>
                          </a:solidFill>
                        </a:rPr>
                        <a:t>CPA Candidate</a:t>
                      </a:r>
                      <a:endParaRPr sz="9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68575" marL="68575">
                    <a:solidFill>
                      <a:srgbClr val="FBE6ED">
                        <a:alpha val="72549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2" name="Google Shape;6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25" y="584425"/>
            <a:ext cx="2136000" cy="20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438" y="730025"/>
            <a:ext cx="1632174" cy="163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plunk TMPLT-FY23-102">
  <a:themeElements>
    <a:clrScheme name=" ">
      <a:dk1>
        <a:srgbClr val="000000"/>
      </a:dk1>
      <a:lt1>
        <a:srgbClr val="FFFFFF"/>
      </a:lt1>
      <a:dk2>
        <a:srgbClr val="7F7F7F"/>
      </a:dk2>
      <a:lt2>
        <a:srgbClr val="E6E6E6"/>
      </a:lt2>
      <a:accent1>
        <a:srgbClr val="EC008C"/>
      </a:accent1>
      <a:accent2>
        <a:srgbClr val="F56A00"/>
      </a:accent2>
      <a:accent3>
        <a:srgbClr val="F0D318"/>
      </a:accent3>
      <a:accent4>
        <a:srgbClr val="AB006B"/>
      </a:accent4>
      <a:accent5>
        <a:srgbClr val="C83C10"/>
      </a:accent5>
      <a:accent6>
        <a:srgbClr val="F99D1C"/>
      </a:accent6>
      <a:hlink>
        <a:srgbClr val="EC008C"/>
      </a:hlink>
      <a:folHlink>
        <a:srgbClr val="E6E6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Jessica Pica</dc:creator>
</cp:coreProperties>
</file>